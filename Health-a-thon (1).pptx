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al MT Pro Bold" panose="020B0604020202020204" charset="0"/>
      <p:regular r:id="rId10"/>
    </p:embeddedFont>
    <p:embeddedFont>
      <p:font typeface="Glacial Indifference" panose="020B0604020202020204" charset="0"/>
      <p:regular r:id="rId11"/>
    </p:embeddedFont>
    <p:embeddedFont>
      <p:font typeface="Glacial Indifference Bold Italics" panose="020B0604020202020204" charset="0"/>
      <p:regular r:id="rId12"/>
    </p:embeddedFont>
    <p:embeddedFont>
      <p:font typeface="Montserrat Bold" panose="020B0604020202020204" charset="0"/>
      <p:regular r:id="rId13"/>
    </p:embeddedFont>
    <p:embeddedFont>
      <p:font typeface="Playwrite US Modern" panose="020B0604020202020204" charset="0"/>
      <p:regular r:id="rId14"/>
    </p:embeddedFont>
    <p:embeddedFont>
      <p:font typeface="Sigher" panose="020B0604020202020204" charset="0"/>
      <p:regular r:id="rId15"/>
    </p:embeddedFont>
    <p:embeddedFont>
      <p:font typeface="Telegraf" panose="020B0604020202020204" charset="0"/>
      <p:regular r:id="rId16"/>
    </p:embeddedFont>
    <p:embeddedFont>
      <p:font typeface="Telegraf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1.png"/><Relationship Id="rId7" Type="http://schemas.openxmlformats.org/officeDocument/2006/relationships/image" Target="../media/image1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6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278307" y="4877668"/>
            <a:ext cx="7765898" cy="4488718"/>
            <a:chOff x="0" y="0"/>
            <a:chExt cx="10354530" cy="5984957"/>
          </a:xfrm>
        </p:grpSpPr>
        <p:grpSp>
          <p:nvGrpSpPr>
            <p:cNvPr id="5" name="Group 5"/>
            <p:cNvGrpSpPr/>
            <p:nvPr/>
          </p:nvGrpSpPr>
          <p:grpSpPr>
            <a:xfrm>
              <a:off x="1017820" y="1033320"/>
              <a:ext cx="9336710" cy="4951638"/>
              <a:chOff x="0" y="0"/>
              <a:chExt cx="15326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5326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532600" h="812800">
                    <a:moveTo>
                      <a:pt x="55878" y="0"/>
                    </a:moveTo>
                    <a:lnTo>
                      <a:pt x="1476721" y="0"/>
                    </a:lnTo>
                    <a:cubicBezTo>
                      <a:pt x="1507582" y="0"/>
                      <a:pt x="1532600" y="25018"/>
                      <a:pt x="1532600" y="55878"/>
                    </a:cubicBezTo>
                    <a:lnTo>
                      <a:pt x="1532600" y="756922"/>
                    </a:lnTo>
                    <a:cubicBezTo>
                      <a:pt x="1532600" y="787782"/>
                      <a:pt x="1507582" y="812800"/>
                      <a:pt x="1476721" y="812800"/>
                    </a:cubicBezTo>
                    <a:lnTo>
                      <a:pt x="55878" y="812800"/>
                    </a:lnTo>
                    <a:cubicBezTo>
                      <a:pt x="25018" y="812800"/>
                      <a:pt x="0" y="787782"/>
                      <a:pt x="0" y="756922"/>
                    </a:cubicBezTo>
                    <a:lnTo>
                      <a:pt x="0" y="55878"/>
                    </a:lnTo>
                    <a:cubicBezTo>
                      <a:pt x="0" y="25018"/>
                      <a:pt x="25018" y="0"/>
                      <a:pt x="5587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76200"/>
                <a:ext cx="1532600" cy="8890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0" y="0"/>
              <a:ext cx="2035640" cy="2066639"/>
            </a:xfrm>
            <a:custGeom>
              <a:avLst/>
              <a:gdLst/>
              <a:ahLst/>
              <a:cxnLst/>
              <a:rect l="l" t="t" r="r" b="b"/>
              <a:pathLst>
                <a:path w="2035640" h="2066639">
                  <a:moveTo>
                    <a:pt x="0" y="0"/>
                  </a:moveTo>
                  <a:lnTo>
                    <a:pt x="2035640" y="0"/>
                  </a:lnTo>
                  <a:lnTo>
                    <a:pt x="2035640" y="2066639"/>
                  </a:lnTo>
                  <a:lnTo>
                    <a:pt x="0" y="2066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791914" y="3464617"/>
              <a:ext cx="1024064" cy="1101144"/>
            </a:xfrm>
            <a:custGeom>
              <a:avLst/>
              <a:gdLst/>
              <a:ahLst/>
              <a:cxnLst/>
              <a:rect l="l" t="t" r="r" b="b"/>
              <a:pathLst>
                <a:path w="1024064" h="1101144">
                  <a:moveTo>
                    <a:pt x="0" y="0"/>
                  </a:moveTo>
                  <a:lnTo>
                    <a:pt x="1024064" y="0"/>
                  </a:lnTo>
                  <a:lnTo>
                    <a:pt x="1024064" y="1101144"/>
                  </a:lnTo>
                  <a:lnTo>
                    <a:pt x="0" y="1101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4000"/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1423532" y="1430308"/>
              <a:ext cx="7915909" cy="669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43"/>
                </a:lnSpc>
              </a:pPr>
              <a:r>
                <a:rPr lang="en-US" sz="2888">
                  <a:solidFill>
                    <a:srgbClr val="053B66"/>
                  </a:solidFill>
                  <a:latin typeface="Telegraf"/>
                  <a:ea typeface="Telegraf"/>
                  <a:cs typeface="Telegraf"/>
                  <a:sym typeface="Telegraf"/>
                </a:rPr>
                <a:t>TEAM NAME: starwars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25757" y="2897229"/>
              <a:ext cx="6642437" cy="26872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43"/>
                </a:lnSpc>
                <a:spcBef>
                  <a:spcPct val="0"/>
                </a:spcBef>
              </a:pPr>
              <a:r>
                <a:rPr lang="en-US" sz="2888" b="1" spc="730">
                  <a:solidFill>
                    <a:srgbClr val="053B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Samiksha Sharma</a:t>
              </a:r>
            </a:p>
            <a:p>
              <a:pPr algn="l">
                <a:lnSpc>
                  <a:spcPts val="4043"/>
                </a:lnSpc>
                <a:spcBef>
                  <a:spcPct val="0"/>
                </a:spcBef>
              </a:pPr>
              <a:r>
                <a:rPr lang="en-US" sz="2888" b="1" spc="730">
                  <a:solidFill>
                    <a:srgbClr val="053B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Kumari Priyanshu</a:t>
              </a:r>
            </a:p>
            <a:p>
              <a:pPr algn="l">
                <a:lnSpc>
                  <a:spcPts val="4043"/>
                </a:lnSpc>
                <a:spcBef>
                  <a:spcPct val="0"/>
                </a:spcBef>
              </a:pPr>
              <a:r>
                <a:rPr lang="en-US" sz="2888" b="1" spc="730">
                  <a:solidFill>
                    <a:srgbClr val="053B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Krish Tomar</a:t>
              </a:r>
            </a:p>
            <a:p>
              <a:pPr algn="l">
                <a:lnSpc>
                  <a:spcPts val="4043"/>
                </a:lnSpc>
                <a:spcBef>
                  <a:spcPct val="0"/>
                </a:spcBef>
              </a:pPr>
              <a:r>
                <a:rPr lang="en-US" sz="2888" b="1" spc="730">
                  <a:solidFill>
                    <a:srgbClr val="053B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Dr Kshitij Kumar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3532" y="2096640"/>
              <a:ext cx="7915909" cy="669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43"/>
                </a:lnSpc>
              </a:pPr>
              <a:r>
                <a:rPr lang="en-US" sz="2888" b="1" spc="346">
                  <a:solidFill>
                    <a:srgbClr val="053B6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Team Members: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727180" y="1549621"/>
              <a:ext cx="1024064" cy="1101144"/>
            </a:xfrm>
            <a:custGeom>
              <a:avLst/>
              <a:gdLst/>
              <a:ahLst/>
              <a:cxnLst/>
              <a:rect l="l" t="t" r="r" b="b"/>
              <a:pathLst>
                <a:path w="1024064" h="1101144">
                  <a:moveTo>
                    <a:pt x="0" y="0"/>
                  </a:moveTo>
                  <a:lnTo>
                    <a:pt x="1024064" y="0"/>
                  </a:lnTo>
                  <a:lnTo>
                    <a:pt x="1024064" y="1101144"/>
                  </a:lnTo>
                  <a:lnTo>
                    <a:pt x="0" y="1101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4000"/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857809" y="636421"/>
            <a:ext cx="6288663" cy="8829911"/>
            <a:chOff x="0" y="0"/>
            <a:chExt cx="6257290" cy="87858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57290" cy="8785860"/>
            </a:xfrm>
            <a:custGeom>
              <a:avLst/>
              <a:gdLst/>
              <a:ahLst/>
              <a:cxnLst/>
              <a:rect l="l" t="t" r="r" b="b"/>
              <a:pathLst>
                <a:path w="6257290" h="8785860">
                  <a:moveTo>
                    <a:pt x="1393190" y="7715250"/>
                  </a:moveTo>
                  <a:lnTo>
                    <a:pt x="1107440" y="7715250"/>
                  </a:lnTo>
                  <a:lnTo>
                    <a:pt x="1107440" y="0"/>
                  </a:lnTo>
                  <a:lnTo>
                    <a:pt x="1394460" y="0"/>
                  </a:lnTo>
                  <a:lnTo>
                    <a:pt x="1393190" y="7715250"/>
                  </a:lnTo>
                  <a:close/>
                  <a:moveTo>
                    <a:pt x="1045210" y="7715250"/>
                  </a:moveTo>
                  <a:lnTo>
                    <a:pt x="924560" y="7715250"/>
                  </a:lnTo>
                  <a:lnTo>
                    <a:pt x="924560" y="0"/>
                  </a:lnTo>
                  <a:lnTo>
                    <a:pt x="1045210" y="0"/>
                  </a:lnTo>
                  <a:lnTo>
                    <a:pt x="1045210" y="7715250"/>
                  </a:lnTo>
                  <a:close/>
                  <a:moveTo>
                    <a:pt x="1790700" y="0"/>
                  </a:moveTo>
                  <a:lnTo>
                    <a:pt x="1584960" y="0"/>
                  </a:lnTo>
                  <a:lnTo>
                    <a:pt x="1584960" y="8009890"/>
                  </a:lnTo>
                  <a:lnTo>
                    <a:pt x="1790700" y="8009890"/>
                  </a:lnTo>
                  <a:lnTo>
                    <a:pt x="1790700" y="0"/>
                  </a:lnTo>
                  <a:close/>
                  <a:moveTo>
                    <a:pt x="2095500" y="0"/>
                  </a:moveTo>
                  <a:lnTo>
                    <a:pt x="1903730" y="0"/>
                  </a:lnTo>
                  <a:lnTo>
                    <a:pt x="1903730" y="7999730"/>
                  </a:lnTo>
                  <a:lnTo>
                    <a:pt x="2095500" y="7999730"/>
                  </a:lnTo>
                  <a:lnTo>
                    <a:pt x="2095500" y="0"/>
                  </a:lnTo>
                  <a:close/>
                  <a:moveTo>
                    <a:pt x="4461510" y="7265670"/>
                  </a:moveTo>
                  <a:lnTo>
                    <a:pt x="4748530" y="7265670"/>
                  </a:lnTo>
                  <a:lnTo>
                    <a:pt x="4748530" y="0"/>
                  </a:lnTo>
                  <a:lnTo>
                    <a:pt x="4461510" y="0"/>
                  </a:lnTo>
                  <a:lnTo>
                    <a:pt x="4461510" y="7265670"/>
                  </a:lnTo>
                  <a:close/>
                  <a:moveTo>
                    <a:pt x="4815840" y="7299960"/>
                  </a:moveTo>
                  <a:lnTo>
                    <a:pt x="5102860" y="7299960"/>
                  </a:lnTo>
                  <a:lnTo>
                    <a:pt x="5102860" y="0"/>
                  </a:lnTo>
                  <a:lnTo>
                    <a:pt x="4815840" y="0"/>
                  </a:lnTo>
                  <a:lnTo>
                    <a:pt x="4815840" y="7299960"/>
                  </a:lnTo>
                  <a:close/>
                  <a:moveTo>
                    <a:pt x="4064000" y="7571740"/>
                  </a:moveTo>
                  <a:lnTo>
                    <a:pt x="4419600" y="7571740"/>
                  </a:lnTo>
                  <a:lnTo>
                    <a:pt x="4419600" y="0"/>
                  </a:lnTo>
                  <a:lnTo>
                    <a:pt x="4064000" y="0"/>
                  </a:lnTo>
                  <a:lnTo>
                    <a:pt x="4064000" y="7571740"/>
                  </a:lnTo>
                  <a:close/>
                  <a:moveTo>
                    <a:pt x="3760470" y="8009890"/>
                  </a:moveTo>
                  <a:lnTo>
                    <a:pt x="3952240" y="8009890"/>
                  </a:lnTo>
                  <a:lnTo>
                    <a:pt x="3952240" y="0"/>
                  </a:lnTo>
                  <a:lnTo>
                    <a:pt x="3760470" y="0"/>
                  </a:lnTo>
                  <a:lnTo>
                    <a:pt x="3760470" y="8009890"/>
                  </a:lnTo>
                  <a:close/>
                  <a:moveTo>
                    <a:pt x="2372360" y="0"/>
                  </a:moveTo>
                  <a:lnTo>
                    <a:pt x="2180590" y="0"/>
                  </a:lnTo>
                  <a:lnTo>
                    <a:pt x="2180590" y="8371840"/>
                  </a:lnTo>
                  <a:lnTo>
                    <a:pt x="2372360" y="8371840"/>
                  </a:lnTo>
                  <a:lnTo>
                    <a:pt x="2372360" y="0"/>
                  </a:lnTo>
                  <a:close/>
                  <a:moveTo>
                    <a:pt x="3661410" y="0"/>
                  </a:moveTo>
                  <a:lnTo>
                    <a:pt x="2423160" y="0"/>
                  </a:lnTo>
                  <a:lnTo>
                    <a:pt x="2423160" y="8785860"/>
                  </a:lnTo>
                  <a:lnTo>
                    <a:pt x="3661410" y="8785860"/>
                  </a:lnTo>
                  <a:lnTo>
                    <a:pt x="3661410" y="0"/>
                  </a:lnTo>
                  <a:close/>
                  <a:moveTo>
                    <a:pt x="5320030" y="0"/>
                  </a:moveTo>
                  <a:lnTo>
                    <a:pt x="5199380" y="0"/>
                  </a:lnTo>
                  <a:lnTo>
                    <a:pt x="5199380" y="6945630"/>
                  </a:lnTo>
                  <a:lnTo>
                    <a:pt x="5320030" y="6945630"/>
                  </a:lnTo>
                  <a:lnTo>
                    <a:pt x="5320030" y="0"/>
                  </a:lnTo>
                  <a:close/>
                  <a:moveTo>
                    <a:pt x="5386070" y="6684010"/>
                  </a:moveTo>
                  <a:lnTo>
                    <a:pt x="5539740" y="6684010"/>
                  </a:lnTo>
                  <a:lnTo>
                    <a:pt x="5539740" y="0"/>
                  </a:lnTo>
                  <a:lnTo>
                    <a:pt x="5386070" y="0"/>
                  </a:lnTo>
                  <a:lnTo>
                    <a:pt x="5386070" y="6684010"/>
                  </a:lnTo>
                  <a:close/>
                  <a:moveTo>
                    <a:pt x="5627370" y="6814820"/>
                  </a:moveTo>
                  <a:lnTo>
                    <a:pt x="5814060" y="6814820"/>
                  </a:lnTo>
                  <a:lnTo>
                    <a:pt x="5814060" y="0"/>
                  </a:lnTo>
                  <a:lnTo>
                    <a:pt x="5627370" y="0"/>
                  </a:lnTo>
                  <a:lnTo>
                    <a:pt x="5627370" y="6814820"/>
                  </a:lnTo>
                  <a:close/>
                  <a:moveTo>
                    <a:pt x="514350" y="0"/>
                  </a:moveTo>
                  <a:lnTo>
                    <a:pt x="295910" y="0"/>
                  </a:lnTo>
                  <a:lnTo>
                    <a:pt x="295910" y="6617970"/>
                  </a:lnTo>
                  <a:lnTo>
                    <a:pt x="514350" y="6617970"/>
                  </a:lnTo>
                  <a:lnTo>
                    <a:pt x="514350" y="0"/>
                  </a:lnTo>
                  <a:close/>
                  <a:moveTo>
                    <a:pt x="831850" y="0"/>
                  </a:moveTo>
                  <a:lnTo>
                    <a:pt x="623570" y="0"/>
                  </a:lnTo>
                  <a:lnTo>
                    <a:pt x="623570" y="7241540"/>
                  </a:lnTo>
                  <a:lnTo>
                    <a:pt x="831850" y="7241540"/>
                  </a:lnTo>
                  <a:lnTo>
                    <a:pt x="831850" y="0"/>
                  </a:lnTo>
                  <a:close/>
                  <a:moveTo>
                    <a:pt x="130810" y="0"/>
                  </a:moveTo>
                  <a:lnTo>
                    <a:pt x="0" y="0"/>
                  </a:lnTo>
                  <a:lnTo>
                    <a:pt x="0" y="6004560"/>
                  </a:lnTo>
                  <a:lnTo>
                    <a:pt x="130810" y="6004560"/>
                  </a:lnTo>
                  <a:lnTo>
                    <a:pt x="130810" y="0"/>
                  </a:lnTo>
                  <a:close/>
                  <a:moveTo>
                    <a:pt x="6049010" y="0"/>
                  </a:moveTo>
                  <a:lnTo>
                    <a:pt x="5910580" y="0"/>
                  </a:lnTo>
                  <a:lnTo>
                    <a:pt x="5910580" y="6657340"/>
                  </a:lnTo>
                  <a:lnTo>
                    <a:pt x="6049010" y="6657340"/>
                  </a:lnTo>
                  <a:lnTo>
                    <a:pt x="6049010" y="0"/>
                  </a:lnTo>
                  <a:close/>
                  <a:moveTo>
                    <a:pt x="6257290" y="0"/>
                  </a:moveTo>
                  <a:lnTo>
                    <a:pt x="6164580" y="0"/>
                  </a:lnTo>
                  <a:lnTo>
                    <a:pt x="6164580" y="5745480"/>
                  </a:lnTo>
                  <a:lnTo>
                    <a:pt x="6257290" y="5745480"/>
                  </a:lnTo>
                  <a:lnTo>
                    <a:pt x="6257290" y="0"/>
                  </a:lnTo>
                  <a:close/>
                </a:path>
              </a:pathLst>
            </a:custGeom>
            <a:blipFill>
              <a:blip r:embed="rId6"/>
              <a:stretch>
                <a:fillRect l="-75366" r="-75366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7484631" y="243045"/>
            <a:ext cx="665184" cy="785655"/>
          </a:xfrm>
          <a:custGeom>
            <a:avLst/>
            <a:gdLst/>
            <a:ahLst/>
            <a:cxnLst/>
            <a:rect l="l" t="t" r="r" b="b"/>
            <a:pathLst>
              <a:path w="665184" h="785655">
                <a:moveTo>
                  <a:pt x="0" y="0"/>
                </a:moveTo>
                <a:lnTo>
                  <a:pt x="665184" y="0"/>
                </a:lnTo>
                <a:lnTo>
                  <a:pt x="665184" y="785655"/>
                </a:lnTo>
                <a:lnTo>
                  <a:pt x="0" y="7856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808071" y="2602230"/>
            <a:ext cx="5895205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99"/>
              </a:lnSpc>
            </a:pPr>
            <a:r>
              <a:rPr lang="en-US" sz="9999" b="1">
                <a:solidFill>
                  <a:srgbClr val="053B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C.A.R.E.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345814" y="4003066"/>
            <a:ext cx="4196592" cy="81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2299" b="1">
                <a:solidFill>
                  <a:srgbClr val="053B66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Conversational Admission and Response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136796"/>
            <a:ext cx="832796" cy="983623"/>
          </a:xfrm>
          <a:custGeom>
            <a:avLst/>
            <a:gdLst/>
            <a:ahLst/>
            <a:cxnLst/>
            <a:rect l="l" t="t" r="r" b="b"/>
            <a:pathLst>
              <a:path w="832796" h="983623">
                <a:moveTo>
                  <a:pt x="0" y="0"/>
                </a:moveTo>
                <a:lnTo>
                  <a:pt x="832796" y="0"/>
                </a:lnTo>
                <a:lnTo>
                  <a:pt x="832796" y="983622"/>
                </a:lnTo>
                <a:lnTo>
                  <a:pt x="0" y="983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955997"/>
            <a:ext cx="8610610" cy="6494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95"/>
              </a:lnSpc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During an emergency:</a:t>
            </a:r>
          </a:p>
          <a:p>
            <a:pPr marL="662391" lvl="1" indent="-331196" algn="just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patient may be in pain, unconscious or unable to speak.</a:t>
            </a:r>
          </a:p>
          <a:p>
            <a:pPr marL="662391" lvl="1" indent="-331196" algn="just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Family members are stressed and may struggle with long forms.</a:t>
            </a:r>
          </a:p>
          <a:p>
            <a:pPr marL="662391" lvl="1" indent="-331196" algn="just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Typing medical information takes valuable time.</a:t>
            </a:r>
          </a:p>
          <a:p>
            <a:pPr marL="662391" lvl="1" indent="-331196" algn="just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Language differences make communication harder.</a:t>
            </a:r>
          </a:p>
          <a:p>
            <a:pPr marL="662391" lvl="1" indent="-331196" algn="just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Doctors may not receive medical history immediately.</a:t>
            </a:r>
          </a:p>
          <a:p>
            <a:pPr marL="662391" lvl="1" indent="-331196" algn="just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Unclear prescriptions and incomplete details can create further delays.</a:t>
            </a:r>
          </a:p>
        </p:txBody>
      </p:sp>
      <p:sp>
        <p:nvSpPr>
          <p:cNvPr id="4" name="Freeform 4"/>
          <p:cNvSpPr/>
          <p:nvPr/>
        </p:nvSpPr>
        <p:spPr>
          <a:xfrm>
            <a:off x="14443182" y="7062753"/>
            <a:ext cx="4448432" cy="4114800"/>
          </a:xfrm>
          <a:custGeom>
            <a:avLst/>
            <a:gdLst/>
            <a:ahLst/>
            <a:cxnLst/>
            <a:rect l="l" t="t" r="r" b="b"/>
            <a:pathLst>
              <a:path w="4448432" h="4114800">
                <a:moveTo>
                  <a:pt x="0" y="0"/>
                </a:moveTo>
                <a:lnTo>
                  <a:pt x="4448432" y="0"/>
                </a:lnTo>
                <a:lnTo>
                  <a:pt x="44484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816938" y="-1765724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27771" y="1110615"/>
            <a:ext cx="9012416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80"/>
              </a:lnSpc>
            </a:pPr>
            <a:r>
              <a:rPr lang="en-US" sz="2700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Emergency patients should not wait for paperwork.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81075"/>
            <a:ext cx="541961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</a:pPr>
            <a:r>
              <a:rPr lang="en-US" sz="4500" b="1" u="sng">
                <a:solidFill>
                  <a:srgbClr val="053B66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PROBLEM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4100" y="8678936"/>
            <a:ext cx="15875597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80"/>
              </a:lnSpc>
            </a:pPr>
            <a:r>
              <a:rPr lang="en-US" sz="2700" b="1" i="1">
                <a:solidFill>
                  <a:srgbClr val="053B66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Traditional intake processes can slow down the flow of critical information during emergencies, leading them to miss the golden time of treatment.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6426" y="1185359"/>
            <a:ext cx="9933457" cy="76323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4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437179"/>
            <a:ext cx="6050050" cy="7821121"/>
            <a:chOff x="0" y="0"/>
            <a:chExt cx="8066734" cy="1042816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8788895"/>
              <a:ext cx="7513702" cy="1237100"/>
              <a:chOff x="0" y="0"/>
              <a:chExt cx="1484188" cy="24436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84188" cy="244365"/>
              </a:xfrm>
              <a:custGeom>
                <a:avLst/>
                <a:gdLst/>
                <a:ahLst/>
                <a:cxnLst/>
                <a:rect l="l" t="t" r="r" b="b"/>
                <a:pathLst>
                  <a:path w="1484188" h="244365">
                    <a:moveTo>
                      <a:pt x="122183" y="0"/>
                    </a:moveTo>
                    <a:lnTo>
                      <a:pt x="1362005" y="0"/>
                    </a:lnTo>
                    <a:cubicBezTo>
                      <a:pt x="1394410" y="0"/>
                      <a:pt x="1425488" y="12873"/>
                      <a:pt x="1448402" y="35786"/>
                    </a:cubicBezTo>
                    <a:cubicBezTo>
                      <a:pt x="1471315" y="58700"/>
                      <a:pt x="1484188" y="89778"/>
                      <a:pt x="1484188" y="122183"/>
                    </a:cubicBezTo>
                    <a:lnTo>
                      <a:pt x="1484188" y="122183"/>
                    </a:lnTo>
                    <a:cubicBezTo>
                      <a:pt x="1484188" y="189662"/>
                      <a:pt x="1429485" y="244365"/>
                      <a:pt x="1362005" y="244365"/>
                    </a:cubicBezTo>
                    <a:lnTo>
                      <a:pt x="122183" y="244365"/>
                    </a:lnTo>
                    <a:cubicBezTo>
                      <a:pt x="54703" y="244365"/>
                      <a:pt x="0" y="189662"/>
                      <a:pt x="0" y="122183"/>
                    </a:cubicBezTo>
                    <a:lnTo>
                      <a:pt x="0" y="122183"/>
                    </a:lnTo>
                    <a:cubicBezTo>
                      <a:pt x="0" y="54703"/>
                      <a:pt x="54703" y="0"/>
                      <a:pt x="122183" y="0"/>
                    </a:cubicBezTo>
                    <a:close/>
                  </a:path>
                </a:pathLst>
              </a:custGeom>
              <a:solidFill>
                <a:srgbClr val="4086BE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76200"/>
                <a:ext cx="1484188" cy="32056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1014450" y="0"/>
              <a:ext cx="5564731" cy="8788895"/>
            </a:xfrm>
            <a:custGeom>
              <a:avLst/>
              <a:gdLst/>
              <a:ahLst/>
              <a:cxnLst/>
              <a:rect l="l" t="t" r="r" b="b"/>
              <a:pathLst>
                <a:path w="5564731" h="8788895">
                  <a:moveTo>
                    <a:pt x="0" y="0"/>
                  </a:moveTo>
                  <a:lnTo>
                    <a:pt x="5564731" y="0"/>
                  </a:lnTo>
                  <a:lnTo>
                    <a:pt x="5564731" y="8788895"/>
                  </a:lnTo>
                  <a:lnTo>
                    <a:pt x="0" y="8788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075" r="-8755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840587" y="8902620"/>
              <a:ext cx="7226146" cy="962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400"/>
                </a:lnSpc>
              </a:pPr>
              <a:r>
                <a:rPr lang="en-US" sz="4500" b="1" u="sng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OUR SOLUTION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037" y="9987895"/>
              <a:ext cx="7459557" cy="44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53B66"/>
                  </a:solidFill>
                  <a:latin typeface="Playwrite US Modern"/>
                  <a:ea typeface="Playwrite US Modern"/>
                  <a:cs typeface="Playwrite US Modern"/>
                  <a:sym typeface="Playwrite US Modern"/>
                </a:rPr>
                <a:t>A conversational alternative to intake forms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7259300" y="136796"/>
            <a:ext cx="832796" cy="983623"/>
          </a:xfrm>
          <a:custGeom>
            <a:avLst/>
            <a:gdLst/>
            <a:ahLst/>
            <a:cxnLst/>
            <a:rect l="l" t="t" r="r" b="b"/>
            <a:pathLst>
              <a:path w="832796" h="983623">
                <a:moveTo>
                  <a:pt x="0" y="0"/>
                </a:moveTo>
                <a:lnTo>
                  <a:pt x="832796" y="0"/>
                </a:lnTo>
                <a:lnTo>
                  <a:pt x="832796" y="983622"/>
                </a:lnTo>
                <a:lnTo>
                  <a:pt x="0" y="98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016471" y="1605187"/>
            <a:ext cx="1017267" cy="600187"/>
          </a:xfrm>
          <a:custGeom>
            <a:avLst/>
            <a:gdLst/>
            <a:ahLst/>
            <a:cxnLst/>
            <a:rect l="l" t="t" r="r" b="b"/>
            <a:pathLst>
              <a:path w="1017267" h="600187">
                <a:moveTo>
                  <a:pt x="0" y="0"/>
                </a:moveTo>
                <a:lnTo>
                  <a:pt x="1017266" y="0"/>
                </a:lnTo>
                <a:lnTo>
                  <a:pt x="1017266" y="600187"/>
                </a:lnTo>
                <a:lnTo>
                  <a:pt x="0" y="6001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956430" y="1901340"/>
            <a:ext cx="596921" cy="609103"/>
          </a:xfrm>
          <a:custGeom>
            <a:avLst/>
            <a:gdLst/>
            <a:ahLst/>
            <a:cxnLst/>
            <a:rect l="l" t="t" r="r" b="b"/>
            <a:pathLst>
              <a:path w="596921" h="609103">
                <a:moveTo>
                  <a:pt x="0" y="0"/>
                </a:moveTo>
                <a:lnTo>
                  <a:pt x="596921" y="0"/>
                </a:lnTo>
                <a:lnTo>
                  <a:pt x="596921" y="609103"/>
                </a:lnTo>
                <a:lnTo>
                  <a:pt x="0" y="6091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227756" flipH="1">
            <a:off x="1767284" y="3984053"/>
            <a:ext cx="378293" cy="675524"/>
          </a:xfrm>
          <a:custGeom>
            <a:avLst/>
            <a:gdLst/>
            <a:ahLst/>
            <a:cxnLst/>
            <a:rect l="l" t="t" r="r" b="b"/>
            <a:pathLst>
              <a:path w="378293" h="675524">
                <a:moveTo>
                  <a:pt x="378293" y="0"/>
                </a:moveTo>
                <a:lnTo>
                  <a:pt x="0" y="0"/>
                </a:lnTo>
                <a:lnTo>
                  <a:pt x="0" y="675524"/>
                </a:lnTo>
                <a:lnTo>
                  <a:pt x="378293" y="675524"/>
                </a:lnTo>
                <a:lnTo>
                  <a:pt x="37829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183513" y="4078737"/>
            <a:ext cx="850224" cy="722691"/>
          </a:xfrm>
          <a:custGeom>
            <a:avLst/>
            <a:gdLst/>
            <a:ahLst/>
            <a:cxnLst/>
            <a:rect l="l" t="t" r="r" b="b"/>
            <a:pathLst>
              <a:path w="850224" h="722691">
                <a:moveTo>
                  <a:pt x="0" y="0"/>
                </a:moveTo>
                <a:lnTo>
                  <a:pt x="850224" y="0"/>
                </a:lnTo>
                <a:lnTo>
                  <a:pt x="850224" y="722690"/>
                </a:lnTo>
                <a:lnTo>
                  <a:pt x="0" y="722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4183733" flipH="1">
            <a:off x="1794505" y="6159637"/>
            <a:ext cx="323850" cy="1012031"/>
          </a:xfrm>
          <a:custGeom>
            <a:avLst/>
            <a:gdLst/>
            <a:ahLst/>
            <a:cxnLst/>
            <a:rect l="l" t="t" r="r" b="b"/>
            <a:pathLst>
              <a:path w="323850" h="1012031">
                <a:moveTo>
                  <a:pt x="323850" y="0"/>
                </a:moveTo>
                <a:lnTo>
                  <a:pt x="0" y="0"/>
                </a:lnTo>
                <a:lnTo>
                  <a:pt x="0" y="1012031"/>
                </a:lnTo>
                <a:lnTo>
                  <a:pt x="323850" y="1012031"/>
                </a:lnTo>
                <a:lnTo>
                  <a:pt x="32385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3711604">
            <a:off x="5295424" y="6800483"/>
            <a:ext cx="626401" cy="582553"/>
          </a:xfrm>
          <a:custGeom>
            <a:avLst/>
            <a:gdLst/>
            <a:ahLst/>
            <a:cxnLst/>
            <a:rect l="l" t="t" r="r" b="b"/>
            <a:pathLst>
              <a:path w="626401" h="582553">
                <a:moveTo>
                  <a:pt x="0" y="0"/>
                </a:moveTo>
                <a:lnTo>
                  <a:pt x="626402" y="0"/>
                </a:lnTo>
                <a:lnTo>
                  <a:pt x="626402" y="582553"/>
                </a:lnTo>
                <a:lnTo>
                  <a:pt x="0" y="5825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5362523" y="2205891"/>
            <a:ext cx="3207245" cy="1266862"/>
          </a:xfrm>
          <a:custGeom>
            <a:avLst/>
            <a:gdLst/>
            <a:ahLst/>
            <a:cxnLst/>
            <a:rect l="l" t="t" r="r" b="b"/>
            <a:pathLst>
              <a:path w="3207245" h="1266862">
                <a:moveTo>
                  <a:pt x="0" y="0"/>
                </a:moveTo>
                <a:lnTo>
                  <a:pt x="3207245" y="0"/>
                </a:lnTo>
                <a:lnTo>
                  <a:pt x="3207245" y="1266862"/>
                </a:lnTo>
                <a:lnTo>
                  <a:pt x="0" y="12668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8801989" y="2837166"/>
            <a:ext cx="8610610" cy="5408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2391" lvl="1" indent="-331196" algn="l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Asks intake questions through voice.</a:t>
            </a:r>
          </a:p>
          <a:p>
            <a:pPr marL="662391" lvl="1" indent="-331196" algn="l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Understands natural, free-form responses.</a:t>
            </a:r>
          </a:p>
          <a:p>
            <a:pPr marL="662391" lvl="1" indent="-331196" algn="l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Supports multiple Indian languages and mixed-language speech.</a:t>
            </a:r>
          </a:p>
          <a:p>
            <a:pPr marL="662391" lvl="1" indent="-331196" algn="l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Converts the conversation into structured patient information.</a:t>
            </a:r>
          </a:p>
          <a:p>
            <a:pPr marL="662391" lvl="1" indent="-331196" algn="l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Allows relatives to complete the intake while the patient receives treatment.</a:t>
            </a:r>
          </a:p>
          <a:p>
            <a:pPr marL="662391" lvl="1" indent="-331196" algn="l">
              <a:lnSpc>
                <a:spcPts val="4295"/>
              </a:lnSpc>
              <a:buFont typeface="Arial"/>
              <a:buChar char="•"/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Sends the collected information to hospital staff in real time.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01989" y="1548037"/>
            <a:ext cx="8610610" cy="106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3068">
                <a:solidFill>
                  <a:srgbClr val="053B66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Emergency Voice Intake Assistant acts like a digital hospital receptionist. It: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0" y="8474238"/>
            <a:ext cx="8610610" cy="106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3068" b="1" i="1">
                <a:solidFill>
                  <a:srgbClr val="053B66"/>
                </a:solidFill>
                <a:latin typeface="Glacial Indifference Bold Italics"/>
                <a:ea typeface="Glacial Indifference Bold Italics"/>
                <a:cs typeface="Glacial Indifference Bold Italics"/>
                <a:sym typeface="Glacial Indifference Bold Italics"/>
              </a:rPr>
              <a:t>The system collects information. Medical professionals make all clinical decisions.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9314" y="1380029"/>
            <a:ext cx="1623179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Sigher"/>
                <a:ea typeface="Sigher"/>
                <a:cs typeface="Sigher"/>
                <a:sym typeface="Sigher"/>
              </a:rPr>
              <a:t>Automatic language detection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77573" y="1194081"/>
            <a:ext cx="1623179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Sigher"/>
                <a:ea typeface="Sigher"/>
                <a:cs typeface="Sigher"/>
                <a:sym typeface="Sigher"/>
              </a:rPr>
              <a:t>Multilingual support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13186" y="4636539"/>
            <a:ext cx="1623179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Sigher"/>
                <a:ea typeface="Sigher"/>
                <a:cs typeface="Sigher"/>
                <a:sym typeface="Sigher"/>
              </a:rPr>
              <a:t>Family-assisted intake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8134" y="6441688"/>
            <a:ext cx="1415045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Sigher"/>
                <a:ea typeface="Sigher"/>
                <a:cs typeface="Sigher"/>
                <a:sym typeface="Sigher"/>
              </a:rPr>
              <a:t>Prescription and report scanning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06943" y="6470243"/>
            <a:ext cx="1457561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Sigher"/>
                <a:ea typeface="Sigher"/>
                <a:cs typeface="Sigher"/>
                <a:sym typeface="Sigher"/>
              </a:rPr>
              <a:t>Audio and visual accessibility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45337" y="3086173"/>
            <a:ext cx="1879512" cy="666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8"/>
              </a:lnSpc>
              <a:spcBef>
                <a:spcPct val="0"/>
              </a:spcBef>
            </a:pPr>
            <a:r>
              <a:rPr lang="en-US" sz="1877">
                <a:solidFill>
                  <a:srgbClr val="000000"/>
                </a:solidFill>
                <a:latin typeface="Sigher"/>
                <a:ea typeface="Sigher"/>
                <a:cs typeface="Sigher"/>
                <a:sym typeface="Sigher"/>
              </a:rPr>
              <a:t>Natural-language understanding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43226" y="1028700"/>
            <a:ext cx="1840387" cy="1868413"/>
          </a:xfrm>
          <a:custGeom>
            <a:avLst/>
            <a:gdLst/>
            <a:ahLst/>
            <a:cxnLst/>
            <a:rect l="l" t="t" r="r" b="b"/>
            <a:pathLst>
              <a:path w="1840387" h="1868413">
                <a:moveTo>
                  <a:pt x="0" y="0"/>
                </a:moveTo>
                <a:lnTo>
                  <a:pt x="1840387" y="0"/>
                </a:lnTo>
                <a:lnTo>
                  <a:pt x="1840387" y="1868413"/>
                </a:lnTo>
                <a:lnTo>
                  <a:pt x="0" y="18684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87042"/>
            <a:ext cx="1272963" cy="1292348"/>
          </a:xfrm>
          <a:custGeom>
            <a:avLst/>
            <a:gdLst/>
            <a:ahLst/>
            <a:cxnLst/>
            <a:rect l="l" t="t" r="r" b="b"/>
            <a:pathLst>
              <a:path w="1272963" h="1292348">
                <a:moveTo>
                  <a:pt x="0" y="0"/>
                </a:moveTo>
                <a:lnTo>
                  <a:pt x="1272963" y="0"/>
                </a:lnTo>
                <a:lnTo>
                  <a:pt x="1272963" y="1292348"/>
                </a:lnTo>
                <a:lnTo>
                  <a:pt x="0" y="1292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51443" y="8418587"/>
            <a:ext cx="1840387" cy="1868413"/>
          </a:xfrm>
          <a:custGeom>
            <a:avLst/>
            <a:gdLst/>
            <a:ahLst/>
            <a:cxnLst/>
            <a:rect l="l" t="t" r="r" b="b"/>
            <a:pathLst>
              <a:path w="1840387" h="1868413">
                <a:moveTo>
                  <a:pt x="0" y="0"/>
                </a:moveTo>
                <a:lnTo>
                  <a:pt x="1840387" y="0"/>
                </a:lnTo>
                <a:lnTo>
                  <a:pt x="1840387" y="1868413"/>
                </a:lnTo>
                <a:lnTo>
                  <a:pt x="0" y="18684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87490" y="7970812"/>
            <a:ext cx="1272963" cy="1292348"/>
          </a:xfrm>
          <a:custGeom>
            <a:avLst/>
            <a:gdLst/>
            <a:ahLst/>
            <a:cxnLst/>
            <a:rect l="l" t="t" r="r" b="b"/>
            <a:pathLst>
              <a:path w="1272963" h="1292348">
                <a:moveTo>
                  <a:pt x="0" y="0"/>
                </a:moveTo>
                <a:lnTo>
                  <a:pt x="1272963" y="0"/>
                </a:lnTo>
                <a:lnTo>
                  <a:pt x="1272963" y="1292349"/>
                </a:lnTo>
                <a:lnTo>
                  <a:pt x="0" y="12923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301663" y="136796"/>
            <a:ext cx="14010699" cy="6162842"/>
          </a:xfrm>
          <a:custGeom>
            <a:avLst/>
            <a:gdLst/>
            <a:ahLst/>
            <a:cxnLst/>
            <a:rect l="l" t="t" r="r" b="b"/>
            <a:pathLst>
              <a:path w="14010699" h="6162842">
                <a:moveTo>
                  <a:pt x="0" y="0"/>
                </a:moveTo>
                <a:lnTo>
                  <a:pt x="14010699" y="0"/>
                </a:lnTo>
                <a:lnTo>
                  <a:pt x="14010699" y="6162842"/>
                </a:lnTo>
                <a:lnTo>
                  <a:pt x="0" y="6162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798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259300" y="136796"/>
            <a:ext cx="832796" cy="983623"/>
          </a:xfrm>
          <a:custGeom>
            <a:avLst/>
            <a:gdLst/>
            <a:ahLst/>
            <a:cxnLst/>
            <a:rect l="l" t="t" r="r" b="b"/>
            <a:pathLst>
              <a:path w="832796" h="983623">
                <a:moveTo>
                  <a:pt x="0" y="0"/>
                </a:moveTo>
                <a:lnTo>
                  <a:pt x="832796" y="0"/>
                </a:lnTo>
                <a:lnTo>
                  <a:pt x="832796" y="983622"/>
                </a:lnTo>
                <a:lnTo>
                  <a:pt x="0" y="983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37593" y="6432364"/>
            <a:ext cx="13084230" cy="3904250"/>
          </a:xfrm>
          <a:custGeom>
            <a:avLst/>
            <a:gdLst/>
            <a:ahLst/>
            <a:cxnLst/>
            <a:rect l="l" t="t" r="r" b="b"/>
            <a:pathLst>
              <a:path w="13084230" h="3904250">
                <a:moveTo>
                  <a:pt x="0" y="0"/>
                </a:moveTo>
                <a:lnTo>
                  <a:pt x="13084230" y="0"/>
                </a:lnTo>
                <a:lnTo>
                  <a:pt x="13084230" y="3904250"/>
                </a:lnTo>
                <a:lnTo>
                  <a:pt x="0" y="3904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9008" b="-4274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34869" y="7272165"/>
            <a:ext cx="2460625" cy="134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828" b="1" spc="28">
                <a:solidFill>
                  <a:srgbClr val="24475E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Proposed Technology Stack</a:t>
            </a:r>
          </a:p>
        </p:txBody>
      </p:sp>
      <p:sp>
        <p:nvSpPr>
          <p:cNvPr id="10" name="AutoShape 10"/>
          <p:cNvSpPr/>
          <p:nvPr/>
        </p:nvSpPr>
        <p:spPr>
          <a:xfrm>
            <a:off x="-543226" y="6280588"/>
            <a:ext cx="19764255" cy="1905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28744"/>
            <a:ext cx="18309346" cy="8089584"/>
          </a:xfrm>
          <a:custGeom>
            <a:avLst/>
            <a:gdLst/>
            <a:ahLst/>
            <a:cxnLst/>
            <a:rect l="l" t="t" r="r" b="b"/>
            <a:pathLst>
              <a:path w="18309346" h="8089584">
                <a:moveTo>
                  <a:pt x="0" y="0"/>
                </a:moveTo>
                <a:lnTo>
                  <a:pt x="18309346" y="0"/>
                </a:lnTo>
                <a:lnTo>
                  <a:pt x="18309346" y="8089584"/>
                </a:lnTo>
                <a:lnTo>
                  <a:pt x="0" y="8089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425" b="-1088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136796"/>
            <a:ext cx="832796" cy="983623"/>
          </a:xfrm>
          <a:custGeom>
            <a:avLst/>
            <a:gdLst/>
            <a:ahLst/>
            <a:cxnLst/>
            <a:rect l="l" t="t" r="r" b="b"/>
            <a:pathLst>
              <a:path w="832796" h="983623">
                <a:moveTo>
                  <a:pt x="0" y="0"/>
                </a:moveTo>
                <a:lnTo>
                  <a:pt x="832796" y="0"/>
                </a:lnTo>
                <a:lnTo>
                  <a:pt x="832796" y="983622"/>
                </a:lnTo>
                <a:lnTo>
                  <a:pt x="0" y="983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21039" y="386993"/>
            <a:ext cx="7645921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</a:pPr>
            <a:r>
              <a:rPr lang="en-US" sz="4500" b="1" u="sng">
                <a:solidFill>
                  <a:srgbClr val="053B66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FEASIBILITY &amp; VIABILITY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95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259300" y="136796"/>
            <a:ext cx="832796" cy="983623"/>
          </a:xfrm>
          <a:custGeom>
            <a:avLst/>
            <a:gdLst/>
            <a:ahLst/>
            <a:cxnLst/>
            <a:rect l="l" t="t" r="r" b="b"/>
            <a:pathLst>
              <a:path w="832796" h="983623">
                <a:moveTo>
                  <a:pt x="0" y="0"/>
                </a:moveTo>
                <a:lnTo>
                  <a:pt x="832796" y="0"/>
                </a:lnTo>
                <a:lnTo>
                  <a:pt x="832796" y="983622"/>
                </a:lnTo>
                <a:lnTo>
                  <a:pt x="0" y="983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111" b="-9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27436" y="2506980"/>
            <a:ext cx="1840387" cy="1868413"/>
          </a:xfrm>
          <a:custGeom>
            <a:avLst/>
            <a:gdLst/>
            <a:ahLst/>
            <a:cxnLst/>
            <a:rect l="l" t="t" r="r" b="b"/>
            <a:pathLst>
              <a:path w="1840387" h="1868413">
                <a:moveTo>
                  <a:pt x="0" y="0"/>
                </a:moveTo>
                <a:lnTo>
                  <a:pt x="1840387" y="0"/>
                </a:lnTo>
                <a:lnTo>
                  <a:pt x="1840387" y="1868413"/>
                </a:lnTo>
                <a:lnTo>
                  <a:pt x="0" y="18684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719179" y="4375393"/>
            <a:ext cx="1268709" cy="1288030"/>
          </a:xfrm>
          <a:custGeom>
            <a:avLst/>
            <a:gdLst/>
            <a:ahLst/>
            <a:cxnLst/>
            <a:rect l="l" t="t" r="r" b="b"/>
            <a:pathLst>
              <a:path w="1268709" h="1288030">
                <a:moveTo>
                  <a:pt x="0" y="0"/>
                </a:moveTo>
                <a:lnTo>
                  <a:pt x="1268710" y="0"/>
                </a:lnTo>
                <a:lnTo>
                  <a:pt x="1268710" y="1288030"/>
                </a:lnTo>
                <a:lnTo>
                  <a:pt x="0" y="12880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698238" y="2602230"/>
            <a:ext cx="6005038" cy="28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099"/>
              </a:lnSpc>
            </a:pPr>
            <a:r>
              <a:rPr lang="en-US" sz="9999" b="1">
                <a:solidFill>
                  <a:srgbClr val="053B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  <a:p>
            <a:pPr algn="r">
              <a:lnSpc>
                <a:spcPts val="11099"/>
              </a:lnSpc>
            </a:pPr>
            <a:r>
              <a:rPr lang="en-US" sz="9999" b="1">
                <a:solidFill>
                  <a:srgbClr val="053B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</a:t>
            </a:r>
          </a:p>
        </p:txBody>
      </p:sp>
      <p:sp>
        <p:nvSpPr>
          <p:cNvPr id="7" name="Freeform 7"/>
          <p:cNvSpPr/>
          <p:nvPr/>
        </p:nvSpPr>
        <p:spPr>
          <a:xfrm>
            <a:off x="17259300" y="136796"/>
            <a:ext cx="832796" cy="983623"/>
          </a:xfrm>
          <a:custGeom>
            <a:avLst/>
            <a:gdLst/>
            <a:ahLst/>
            <a:cxnLst/>
            <a:rect l="l" t="t" r="r" b="b"/>
            <a:pathLst>
              <a:path w="832796" h="983623">
                <a:moveTo>
                  <a:pt x="0" y="0"/>
                </a:moveTo>
                <a:lnTo>
                  <a:pt x="832796" y="0"/>
                </a:lnTo>
                <a:lnTo>
                  <a:pt x="832796" y="983622"/>
                </a:lnTo>
                <a:lnTo>
                  <a:pt x="0" y="983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Custom</PresentationFormat>
  <Paragraphs>38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Calibri</vt:lpstr>
      <vt:lpstr>Glacial Indifference Bold Italics</vt:lpstr>
      <vt:lpstr>Glacial Indifference</vt:lpstr>
      <vt:lpstr>Telegraf</vt:lpstr>
      <vt:lpstr>Arial MT Pro Bold</vt:lpstr>
      <vt:lpstr>Sigher</vt:lpstr>
      <vt:lpstr>Montserrat Bold</vt:lpstr>
      <vt:lpstr>Arial</vt:lpstr>
      <vt:lpstr>Playwrite US Modern</vt:lpstr>
      <vt:lpstr>Telegraf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Health-a-thon</dc:title>
  <cp:lastModifiedBy>Samiksha Sharma</cp:lastModifiedBy>
  <cp:revision>2</cp:revision>
  <dcterms:created xsi:type="dcterms:W3CDTF">2006-08-16T00:00:00Z</dcterms:created>
  <dcterms:modified xsi:type="dcterms:W3CDTF">2026-09-25T15:34:03Z</dcterms:modified>
  <dc:identifier>DAHWIWvggrw</dc:identifier>
</cp:coreProperties>
</file>